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77B69"/>
                </a:solidFill>
                <a:latin typeface="Aptos"/>
              </a:defRPr>
            </a:pPr>
            <a:r>
              <a:t>DATA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622"/>
                </a:solidFill>
                <a:latin typeface="Aptos"/>
              </a:defRPr>
            </a:pPr>
            <a:r>
              <a:t>Electric Vehicle</a:t>
            </a:r>
            <a:br/>
            <a:r>
              <a:t>Problem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8892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4665E"/>
                </a:solidFill>
                <a:latin typeface="Aptos"/>
              </a:defRPr>
            </a:pPr>
            <a:r>
              <a:t>A clean problem-solving presentation focused on EV adoption trends, geography, manufacturers, eligibility and model preferences.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914400"/>
            <a:ext cx="3429000" cy="1325880"/>
          </a:xfrm>
          <a:prstGeom prst="roundRect">
            <a:avLst/>
          </a:prstGeom>
          <a:solidFill>
            <a:srgbClr val="DDC9BC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58200" y="1828800"/>
            <a:ext cx="2788920" cy="164592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60920" y="3154680"/>
            <a:ext cx="3886200" cy="192024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675887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2622"/>
                </a:solidFill>
                <a:latin typeface="Aptos"/>
              </a:defRPr>
            </a:pPr>
            <a:r>
              <a:t>EV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133087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4665E"/>
                </a:solidFill>
                <a:latin typeface="Aptos"/>
              </a:defRPr>
            </a:pPr>
            <a:r>
              <a:t>Trends • Geography • Makes</a:t>
            </a:r>
            <a:br/>
            <a:r>
              <a:t>Eligibility •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665E"/>
                </a:solidFill>
                <a:latin typeface="Aptos"/>
              </a:defRPr>
            </a:pPr>
            <a:r>
              <a:t>ELECTRIC VEHICLE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74665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01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622"/>
                </a:solidFill>
                <a:latin typeface="Aptos"/>
              </a:defRPr>
            </a:pPr>
            <a:r>
              <a:t>What are we trying to understand?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665E"/>
                </a:solidFill>
                <a:latin typeface="Aptos"/>
              </a:defRPr>
            </a:pPr>
            <a:r>
              <a:t>The project explores the structure, growth and adoption patterns of electric vehicles.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19072"/>
            <a:ext cx="1005840" cy="32004"/>
          </a:xfrm>
          <a:prstGeom prst="rect">
            <a:avLst/>
          </a:prstGeom>
          <a:solidFill>
            <a:srgbClr val="977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57800" cy="141732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24028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622"/>
                </a:solidFill>
                <a:latin typeface="Aptos"/>
              </a:defRPr>
            </a:pPr>
            <a:r>
              <a:t>Market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6700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4665E"/>
                </a:solidFill>
                <a:latin typeface="Aptos"/>
              </a:defRPr>
            </a:pPr>
            <a:r>
              <a:t>Understand how electric vehicles are distributed across the dataset and how adoption has evolved.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257800" cy="141732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4028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622"/>
                </a:solidFill>
                <a:latin typeface="Aptos"/>
              </a:defRPr>
            </a:pPr>
            <a:r>
              <a:t>Technology &amp;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700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4665E"/>
                </a:solidFill>
                <a:latin typeface="Aptos"/>
              </a:defRPr>
            </a:pPr>
            <a:r>
              <a:t>Explore electric-range patterns as an indicator of vehicle efficiency and technological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257800" cy="141732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406908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622"/>
                </a:solidFill>
                <a:latin typeface="Aptos"/>
              </a:defRPr>
            </a:pPr>
            <a:r>
              <a:t>Powertrain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4988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4665E"/>
                </a:solidFill>
                <a:latin typeface="Aptos"/>
              </a:defRPr>
            </a:pPr>
            <a:r>
              <a:t>Compare Battery Electric Vehicles and Plug-in Hybrid Electric Vehicles to understand the market mix.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86200"/>
            <a:ext cx="5257800" cy="141732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06908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622"/>
                </a:solidFill>
                <a:latin typeface="Aptos"/>
              </a:defRPr>
            </a:pPr>
            <a:r>
              <a:t>Adoption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4988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4665E"/>
                </a:solidFill>
                <a:latin typeface="Aptos"/>
              </a:defRPr>
            </a:pPr>
            <a:r>
              <a:t>Identify where EVs are concentrated and which makes and models appear most frequently.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665E"/>
                </a:solidFill>
                <a:latin typeface="Aptos"/>
              </a:defRPr>
            </a:pPr>
            <a:r>
              <a:t>ELECTRIC VEHICLE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74665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02 /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622"/>
                </a:solidFill>
                <a:latin typeface="Aptos"/>
              </a:defRPr>
            </a:pPr>
            <a:r>
              <a:t>From question to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665E"/>
                </a:solidFill>
                <a:latin typeface="Aptos"/>
              </a:defRPr>
            </a:pPr>
            <a:r>
              <a:t>A simple workflow for solving the electric vehicle analysis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19072"/>
            <a:ext cx="1005840" cy="32004"/>
          </a:xfrm>
          <a:prstGeom prst="rect">
            <a:avLst/>
          </a:prstGeom>
          <a:solidFill>
            <a:srgbClr val="977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011680" cy="342900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622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2900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Turn the business problem into clear analytical questions.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5074920"/>
            <a:ext cx="118872" cy="118872"/>
          </a:xfrm>
          <a:prstGeom prst="ellipse">
            <a:avLst/>
          </a:prstGeom>
          <a:solidFill>
            <a:srgbClr val="977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1" y="2148840"/>
            <a:ext cx="2011680" cy="342900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395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622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42900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Clean and organize model year, state, make, model, type, range and eligibility fields.</a:t>
            </a:r>
          </a:p>
        </p:txBody>
      </p:sp>
      <p:sp>
        <p:nvSpPr>
          <p:cNvPr id="15" name="Oval 14"/>
          <p:cNvSpPr/>
          <p:nvPr/>
        </p:nvSpPr>
        <p:spPr>
          <a:xfrm>
            <a:off x="3090672" y="5074920"/>
            <a:ext cx="118872" cy="118872"/>
          </a:xfrm>
          <a:prstGeom prst="ellipse">
            <a:avLst/>
          </a:prstGeom>
          <a:solidFill>
            <a:srgbClr val="977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75504" y="2148840"/>
            <a:ext cx="2011680" cy="342900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2395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622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342900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Compare trends, categories, rankings and geographic patterns.</a:t>
            </a:r>
          </a:p>
        </p:txBody>
      </p:sp>
      <p:sp>
        <p:nvSpPr>
          <p:cNvPr id="20" name="Oval 19"/>
          <p:cNvSpPr/>
          <p:nvPr/>
        </p:nvSpPr>
        <p:spPr>
          <a:xfrm>
            <a:off x="5358384" y="5074920"/>
            <a:ext cx="118872" cy="118872"/>
          </a:xfrm>
          <a:prstGeom prst="ellipse">
            <a:avLst/>
          </a:prstGeom>
          <a:solidFill>
            <a:srgbClr val="977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43215" y="2148840"/>
            <a:ext cx="2011680" cy="342900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5" y="2395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5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622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5" y="342900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Choose charts that communicate each analytical question clearly.</a:t>
            </a:r>
          </a:p>
        </p:txBody>
      </p:sp>
      <p:sp>
        <p:nvSpPr>
          <p:cNvPr id="25" name="Oval 24"/>
          <p:cNvSpPr/>
          <p:nvPr/>
        </p:nvSpPr>
        <p:spPr>
          <a:xfrm>
            <a:off x="7626095" y="5074920"/>
            <a:ext cx="118872" cy="118872"/>
          </a:xfrm>
          <a:prstGeom prst="ellipse">
            <a:avLst/>
          </a:prstGeom>
          <a:solidFill>
            <a:srgbClr val="977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10928" y="2148840"/>
            <a:ext cx="2011680" cy="342900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7" y="2395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7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622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7" y="342900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Summarize what the visuals reveal about EV adoption and preferences.</a:t>
            </a:r>
          </a:p>
        </p:txBody>
      </p:sp>
      <p:sp>
        <p:nvSpPr>
          <p:cNvPr id="30" name="Oval 29"/>
          <p:cNvSpPr/>
          <p:nvPr/>
        </p:nvSpPr>
        <p:spPr>
          <a:xfrm>
            <a:off x="9893807" y="5074920"/>
            <a:ext cx="118872" cy="118872"/>
          </a:xfrm>
          <a:prstGeom prst="ellipse">
            <a:avLst/>
          </a:prstGeom>
          <a:solidFill>
            <a:srgbClr val="977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665E"/>
                </a:solidFill>
                <a:latin typeface="Aptos"/>
              </a:defRPr>
            </a:pPr>
            <a:r>
              <a:t>ELECTRIC VEHICLE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74665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03 / VISUAL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622"/>
                </a:solidFill>
                <a:latin typeface="Aptos"/>
              </a:defRPr>
            </a:pPr>
            <a:r>
              <a:t>Charts used to solve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665E"/>
                </a:solidFill>
                <a:latin typeface="Aptos"/>
              </a:defRPr>
            </a:pPr>
            <a:r>
              <a:t>Each visual answers a different question about EV adoption.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19072"/>
            <a:ext cx="1005840" cy="32004"/>
          </a:xfrm>
          <a:prstGeom prst="rect">
            <a:avLst/>
          </a:prstGeom>
          <a:solidFill>
            <a:srgbClr val="977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93392"/>
            <a:ext cx="10972800" cy="621792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579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622"/>
                </a:solidFill>
                <a:latin typeface="Aptos"/>
              </a:defRPr>
            </a:pPr>
            <a:r>
              <a:t>Model Year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15798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LINE /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Shows how electric-vehicle adoption changes over time from 2010 onward.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16352"/>
            <a:ext cx="10972800" cy="621792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8094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622"/>
                </a:solidFill>
                <a:latin typeface="Aptos"/>
              </a:defRPr>
            </a:pPr>
            <a:r>
              <a:t>Vehicles by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9809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62656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Shows the geographic distribution of electric vehicles across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39312"/>
            <a:ext cx="10972800" cy="621792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03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622"/>
                </a:solidFill>
                <a:latin typeface="Aptos"/>
              </a:defRPr>
            </a:pPr>
            <a:r>
              <a:t>Top 10 Makes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80390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85616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Highlights manufacturers with the highest vehicle counts.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62272"/>
            <a:ext cx="10972800" cy="621792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268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622"/>
                </a:solidFill>
                <a:latin typeface="Aptos"/>
              </a:defRPr>
            </a:pPr>
            <a:r>
              <a:t>CAFV Eligibility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62686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DONUT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08576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Shows the distribution of vehicles by clean alternative fuel eligibility.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85232"/>
            <a:ext cx="10972800" cy="621792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498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622"/>
                </a:solidFill>
                <a:latin typeface="Aptos"/>
              </a:defRPr>
            </a:pPr>
            <a:r>
              <a:t>Top 10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44982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TREEMAP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31536"/>
            <a:ext cx="6537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665E"/>
                </a:solidFill>
                <a:latin typeface="Aptos"/>
              </a:defRPr>
            </a:pPr>
            <a:r>
              <a:t>Highlights the most common electric-vehicle models in the dataset.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665E"/>
                </a:solidFill>
                <a:latin typeface="Aptos"/>
              </a:defRPr>
            </a:pPr>
            <a:r>
              <a:t>ELECTRIC VEHICLE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74665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77B69"/>
                </a:solidFill>
                <a:latin typeface="Aptos"/>
              </a:defRPr>
            </a:pPr>
            <a:r>
              <a:t>04 /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622"/>
                </a:solidFill>
                <a:latin typeface="Aptos"/>
              </a:defRPr>
            </a:pPr>
            <a:r>
              <a:t>Software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665E"/>
                </a:solidFill>
                <a:latin typeface="Aptos"/>
              </a:defRPr>
            </a:pPr>
            <a:r>
              <a:t>A simple tool stack using Excel for data preparation and Tableau for interactive visualization.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19072"/>
            <a:ext cx="1005840" cy="32004"/>
          </a:xfrm>
          <a:prstGeom prst="rect">
            <a:avLst/>
          </a:prstGeom>
          <a:solidFill>
            <a:srgbClr val="977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57800" cy="205740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77B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D2622"/>
                </a:solidFill>
                <a:latin typeface="Aptos"/>
              </a:defRPr>
            </a:pPr>
            <a:r>
              <a:t>Microsoft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015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665E"/>
                </a:solidFill>
                <a:latin typeface="Aptos"/>
              </a:defRPr>
            </a:pPr>
            <a:r>
              <a:t>Version 2021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49240" cy="2057400"/>
          </a:xfrm>
          <a:prstGeom prst="roundRect">
            <a:avLst/>
          </a:prstGeom>
          <a:solidFill>
            <a:srgbClr val="FDF9F5"/>
          </a:solidFill>
          <a:ln w="10160">
            <a:solidFill>
              <a:srgbClr val="E0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77B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80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D2622"/>
                </a:solidFill>
                <a:latin typeface="Aptos"/>
              </a:defRPr>
            </a:pPr>
            <a:r>
              <a:t>Tableau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401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665E"/>
                </a:solidFill>
                <a:latin typeface="Aptos"/>
              </a:defRPr>
            </a:pPr>
            <a:r>
              <a:t>Data Visualization &amp; Dashboarding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622"/>
                </a:solidFill>
                <a:latin typeface="Aptos"/>
              </a:defRPr>
            </a:pPr>
            <a:r>
              <a:t>Clean • Nude • Minimal • Presentation-ready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766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4665E"/>
                </a:solidFill>
                <a:latin typeface="Aptos"/>
              </a:defRPr>
            </a:pPr>
            <a:r>
              <a:t>No KPI cards, no third-party branding, and no watermark elements.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665E"/>
                </a:solidFill>
                <a:latin typeface="Aptos"/>
              </a:defRPr>
            </a:pPr>
            <a:r>
              <a:t>ELECTRIC VEHICLE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74665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7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4665E"/>
                </a:solidFill>
                <a:latin typeface="Aptos"/>
              </a:defRPr>
            </a:pPr>
            <a:r>
              <a:t>Data cleaning • preparation •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675887"/>
            <a:ext cx="4389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4665E"/>
                </a:solidFill>
                <a:latin typeface="Aptos"/>
              </a:defRPr>
            </a:pPr>
            <a:r>
              <a:t>Interactive dashboards • visual storytelling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